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멀티모달 AI Agent 기반 스마트 농업 서비스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8803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대상 작물: 느타리버섯 · Streamlit + LangGraph + VLM + RAG(Chroma)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3192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2C4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41648"/>
            <a:ext cx="48463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구현 범위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대시보드 · 이미지 분석 · AI 상담 · 영농일지 (4개 탭)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Agent Tool 4종: rag_search / analyze / diary / price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과제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요구사항 6개 항목과 구현 위치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1051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1  데이터 선정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가격(KAMIS)·지역 생산(KOSIS)·재배 매뉴얼·이미지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data/raw 우선, 없으면 SAMPLE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6459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59" y="181051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2 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59" y="242316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Streamlit + Plotly 차트 4종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KPI 3종 · 기간/지역 필터 · 출처 표기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6459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9" y="181051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3  멀티모달·RAG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9" y="242316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VLM Zero-shot 이미지 분석(JSON)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매뉴얼·분석결과 → Embedding → Chroma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8795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4 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0060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LangGraph ToolNode 그래프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Tool 4종 자동 선택 · 최대 6회 반복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402336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59" y="418795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5  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80060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이미지 업로드·질문 입력·대시보드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검색 근거·Tool 이력·영농일지 출력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402336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9" y="418795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6  제출물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480060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소스·캡처(Playwright)·PPT(python-pptx)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제출 zip(scripts/make_zip.py)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요구사항 ↔ 구현 ↔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과제 요구사항 원문 기준 대응표 · 검증은 빌드 시 pytest 실행 결과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572000"/>
                <a:gridCol w="2971800"/>
                <a:gridCol w="19202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요구사항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구현 내용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구현 파일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검증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 데이터 선정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가격·지역 생산·매뉴얼·이미지, data/raw 우선 → SAMPLE 대체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src/data/loaders.py, kamis.py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6건 통과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 대시보드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Plotly 차트 4종, KPI 3종, 기간·지역 필터, 출처 표기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src/dashboard/charts.py, app.py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Playwright 캡처 · 예외 0건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 이미지 분석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VLM Zero-shot, Pydantic JSON, SHA-256 캐시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src/vision/analyzer.py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5건 통과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 RAG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청킹 → e5 Embedding → Chroma(manuals, analysis_logs)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src/rag/*.py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8건 통과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 AI Agent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LangGraph agent↔ToolNode, Tool 4종, 최대 6회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src/agent/graph.py, tools.py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17건 통과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 UI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업로드·질문·대시보드·검색 근거·Tool 이력·영농일지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app.py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Playwright 캡처 17장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 제출물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캡처·PPT·zip 자동 생성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scripts/*.py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1건 통과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기술 스택과 선정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공급자·Embedding은 환경변수로 전환 (코드 수정 없음)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39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3749039"/>
                <a:gridCol w="27432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구성요소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적용 기술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선정 근거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대안 · 전환 방법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UI · 시각화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Streamlit, Plotly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Python 단일 언어로 탭·업로드·차트 구현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LangGraph StateGraph + ToolNode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반복 횟수 제어·Tool 이력 추출이 명시적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create_react_agent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 · VLM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mock / Gemini / Ollama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 없이 개발·테스트(mock), 실모델은 env로 전환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LLM_PROVIDER, LLM_MODEL, VLM_MODEL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Embedding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sentence-transformers</a:t>
                      </a:r>
                    </a:p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multilingual-e5-small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로컬 실행, API 키 불필요, 한국어 지원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EMBEDDING_MODEL=BAAI/bge-m3 · hash 폴백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Vector DB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Chroma (persist: vectorstore/)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 기반 영속화, 별도 서버 불필요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구조화 출력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Pydantic v2 스키마 검증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허용값 외 응답 차단, 실패 시 1회 재요청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데이터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pandas, openpyxl, pypdf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KAMIS xlsx·KOSIS csv(cp949)·PDF 로딩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KAMIS Open API(선택)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산출물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Playwright, python-pptx, pytest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캡처·PPT·테스트를 스크립트로 재현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실데이터 투입 경로와 대체(SAMPLE) 규칙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4480560"/>
                <a:gridCol w="1828800"/>
              </a:tblGrid>
              <a:tr h="768096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투입 경로</a:t>
                      </a:r>
                    </a:p>
                  </a:txBody>
                  <a:tcPr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</a:t>
                      </a:r>
                    </a:p>
                  </a:txBody>
                  <a:tcPr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현재 상태</a:t>
                      </a:r>
                    </a:p>
                  </a:txBody>
                  <a:tcPr>
                    <a:solidFill>
                      <a:srgbClr val="1F3A2B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가격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data/raw/price/*.xlsx|csv</a:t>
                      </a:r>
                    </a:p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(KAMIS 웹 다운로드)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컬럼 매핑 dict, 실패 시 필요 컬럼 UI 표시</a:t>
                      </a:r>
                    </a:p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KAMIS API는 키+품목코드 있을 때만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SAMPLE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지역 생산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data/raw/production/*.csv</a:t>
                      </a:r>
                    </a:p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(KOSIS 특용작물생산실적)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wide→long, cp949/utf-8 자동 판별</a:t>
                      </a:r>
                    </a:p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전국·계 행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 매뉴얼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data/raw/docs/*.pdf|md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PyPDFLoader, 파일명·페이지 메타데이터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샘플 매뉴얼(일반 상식)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이미지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data/raw/images/*.jpg|png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시연·테스트용(학습 없음, Zero-shot)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mock 더미 이미지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779008"/>
            <a:ext cx="107899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샘플 가격·생산량은 합성값(is_sample=True)이며 실측 통계가 아님. 대시보드 상단과 각 차트 하단에 SAMPLE로 표기함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시스템 아키텍처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공급자 생성은 src/llm/factory.py 한 곳에서만 수행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73352"/>
            <a:ext cx="10844784" cy="72237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Streamlit UI (app.py)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📊 대시보드   🔬 이미지 분석   💬 AI 상담   📝 영농일지   · 사이드바: LLM_PROVIDER·모델·Embedding 표시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3291840" cy="14630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953512"/>
            <a:ext cx="3072384" cy="1316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LangGraph Agent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agent 노드 ↔ ToolNode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최대 6회 · 429/연결 오류 백오프 2회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2880360"/>
            <a:ext cx="3931920" cy="14630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5968" y="2953512"/>
            <a:ext cx="3712463" cy="1316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Tools (src/agent/tools.py)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rag_search · analyze_mushroom_image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write_farm_diary · get_mushroom_price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2880360"/>
            <a:ext cx="3108960" cy="14630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13648" y="2953512"/>
            <a:ext cx="2889504" cy="1316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LLM factory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mock (기본, 키 불필요)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gemini · ollama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LLM_MODEL / VLM_MODEL 환경변수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Chroma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manuals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analysis_logs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9864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Embedding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sentence-transformers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e5 접두어 · 해싱 폴백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Vision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Pydantic JSON 스키마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SHA-256 캐시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920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Data loaders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data/raw → SAMPLE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KAMIS API(선택)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948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outputs/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diary/*.md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cache · uploads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94560" y="2468880"/>
            <a:ext cx="0" cy="41148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840480" y="3611880"/>
            <a:ext cx="36576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8138160" y="3611880"/>
            <a:ext cx="36576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554480" y="4343400"/>
            <a:ext cx="292608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794760" y="4343400"/>
            <a:ext cx="68580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35040" y="4343400"/>
            <a:ext cx="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4343400"/>
            <a:ext cx="41148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4343400"/>
            <a:ext cx="265176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데이터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입력 데이터별 처리 경로와 저장 위치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965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508760"/>
            <a:ext cx="26974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저장 · 대체 규칙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508760"/>
            <a:ext cx="26974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처리 모듈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1508760"/>
            <a:ext cx="2788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결과 · 사용처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93392"/>
            <a:ext cx="17830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가격·생산 통계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14600" y="2377440"/>
            <a:ext cx="27432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88920" y="192024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993392"/>
            <a:ext cx="251460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data/raw/price · production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(없으면 data/sample)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0" y="2377440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06440" y="192024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79" y="1993392"/>
            <a:ext cx="251460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loaders.py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컬럼 매핑 · wide→long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03920" y="2377440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23960" y="192024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1993392"/>
            <a:ext cx="2606039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대시보드 차트·KPI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get_mushroom_price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35808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108960"/>
            <a:ext cx="17830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재배 매뉴얼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14600" y="3493008"/>
            <a:ext cx="27432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788920" y="3035808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0360" y="3108960"/>
            <a:ext cx="251460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data/raw/docs (pdf·md)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(없으면 샘플 매뉴얼)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0" y="3493008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806440" y="3035808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79" y="3108960"/>
            <a:ext cx="251460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ingest.py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청킹 600/100 → e5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503920" y="3493008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823960" y="3035808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5400" y="3108960"/>
            <a:ext cx="2606039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Chroma manuals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→ rag_search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51376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224528"/>
            <a:ext cx="17830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재배 이미지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514600" y="4608576"/>
            <a:ext cx="27432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788920" y="4151376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80360" y="4224528"/>
            <a:ext cx="251460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업로드 → outputs/uploads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(시연: data/raw/images)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0" y="4608576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806440" y="4151376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97879" y="4224528"/>
            <a:ext cx="251460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analyzer.py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VLM → Pydantic JSON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503920" y="4608576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823960" y="4151376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15400" y="4224528"/>
            <a:ext cx="2606039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outputs/cache · analysis_logs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→ 분석 탭·일지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266944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340096"/>
            <a:ext cx="17830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농가 입력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514600" y="5724144"/>
            <a:ext cx="27432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2788920" y="5266944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80360" y="5340096"/>
            <a:ext cx="251460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온도·습도·CO2·작업 메모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(탭 4 또는 상담 메시지)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486400" y="5724144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5806440" y="5266944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97879" y="5340096"/>
            <a:ext cx="251460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writer.py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고정 양식 + 익일 계획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03920" y="5724144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823960" y="5266944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15400" y="5340096"/>
            <a:ext cx="2606039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outputs/diary/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날짜별 Markdown → 다운로드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대시보드 (탭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Streamlit + Plotly · 데이터 출처를 각 차트 하단에 표기</a:t>
            </a:r>
          </a:p>
        </p:txBody>
      </p:sp>
      <p:pic>
        <p:nvPicPr>
          <p:cNvPr id="4" name="Picture 3" descr="01_dashboard_mock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766560" cy="475488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6766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01_dashboard_mock.png · mock 모드 캡처 · 실모델 결과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645920"/>
            <a:ext cx="411480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차트 4종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① 가격 시계열 라인 — 일/월 전환, 도매·소매 구분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② 시도별 생산량 가로 막대 — 연도 선택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③ 시도별 생산량 전년 대비 증감률 히트맵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④ 도매 가격 월별 계절성 히트맵 (연 × 월)</a:t>
            </a:r>
          </a:p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KPI · 필터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최근 도매가 · 전월 대비 %(월평균) · 최대 생산 지역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기간(date range) · 지역(multiselect)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이중 축 미사용, 범주색 고정 순서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대시보드 상세 ① KPI · 가격 시계열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도매/소매 구분, 일·월 단위 전환 (일 단위 → 월평균 리샘플링)</a:t>
            </a:r>
          </a:p>
        </p:txBody>
      </p:sp>
      <p:pic>
        <p:nvPicPr>
          <p:cNvPr id="4" name="Picture 3" descr="11_dashboard_kpi_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5486400" cy="1404387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2940579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11_dashboard_kpi_mock · mock 캡처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09360" y="1508760"/>
          <a:ext cx="5303519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749039"/>
              </a:tblGrid>
              <a:tr h="35661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KPI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산출 방식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최근 도매가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필터 기간 내 마지막 조사일 도매가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전월 대비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도매 월평균(MS) 최근 2개월 증감률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최대 생산 지역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최근 연도 시도별 생산량 최댓값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12_chart_price_daily_m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37560"/>
            <a:ext cx="5486400" cy="2132977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497969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12_chart_price_daily_mock · mock 캡처</a:t>
            </a:r>
          </a:p>
        </p:txBody>
      </p:sp>
      <p:pic>
        <p:nvPicPr>
          <p:cNvPr id="9" name="Picture 8" descr="16_chart_price_monthly_m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337560"/>
            <a:ext cx="5486400" cy="2132977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172200" y="5497969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16_chart_price_monthly_mock · mock 캡처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모든 수치는 SAMPLE 합성값(실측 아님) · 차트 하단과 대시보드 상단에 출처 표기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대시보드 상세 ② 생산 통계 · 계절성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범주색 고정 순서, 크기는 단일 hue 순차 램프, 증감률은 발산 팔레트(중립 회색)</a:t>
            </a:r>
          </a:p>
        </p:txBody>
      </p:sp>
      <p:pic>
        <p:nvPicPr>
          <p:cNvPr id="4" name="Picture 3" descr="13_chart_region_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3566160" cy="3869505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405697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13_chart_region_mock · mock 캡처</a:t>
            </a:r>
          </a:p>
        </p:txBody>
      </p:sp>
      <p:pic>
        <p:nvPicPr>
          <p:cNvPr id="6" name="Picture 5" descr="14_chart_yoy_m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508760"/>
            <a:ext cx="3566160" cy="3691937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297680" y="5228129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14_chart_yoy_mock · mock 캡처</a:t>
            </a:r>
          </a:p>
        </p:txBody>
      </p:sp>
      <p:pic>
        <p:nvPicPr>
          <p:cNvPr id="8" name="Picture 7" descr="15_chart_seasonality_m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508760"/>
            <a:ext cx="3566160" cy="1168099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046720" y="2704291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15_chart_seasonality_mock · mock 캡처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429000"/>
            <a:ext cx="356616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차트 구성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② 시도별 생산량: 연도 선택, 가로 막대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③ 전년 대비 증감률: 시도 × 연도 히트맵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④ 계절성: 연 × 월 도매 월평균 히트맵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이중 축 미사용 · 지역 필터 연동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SAMPLE 합성값이므로 지역 순위·증감률을 실제 통계로 해석하면 안 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이미지 분석 (VLM Zero-shot)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src/vision/analyzer.py · 학습 코드 없음(학습 데이터 없음)</a:t>
            </a:r>
          </a:p>
        </p:txBody>
      </p:sp>
      <p:pic>
        <p:nvPicPr>
          <p:cNvPr id="4" name="Picture 3" descr="02_image_analysis_mock_0_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48056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080760"/>
            <a:ext cx="60350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02_image_analysis_mock.png · mock 모드 캡처 · 실모델 결과 아님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600200"/>
            <a:ext cx="4754880" cy="2148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67728" y="1673352"/>
            <a:ext cx="4535424" cy="2002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구조화 출력 스키마 (Pydantic)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growth_stage: 균사생장/원기형성/자실체생장/수확적기/과숙/판단불가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disease_suspected: 정상/푸른곰팡이병/세균성갈색무늬병/버섯파리 피해/기타/판단불가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confidence 0~1 · visual_evidence[] · recommended_actions[] · summary_ko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3931920"/>
            <a:ext cx="475488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005072"/>
            <a:ext cx="4535424" cy="19568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처리 규칙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프롬프트: 관찰 근거만 기술, 불확실하면 판단불가·낮은 신뢰도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파싱 실패 → 1회 재요청 → 실패 시 판단불가 반환(캐시 안 함)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SHA-256(+공급자·모델) 키 캐시: 같은 이미지는 재호출 없음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결과를 Chroma analysis_logs에 메타데이터와 함께 저장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이미지 분석 처리 흐름과 출력 스키마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같은 이미지·같은 모델은 캐시로 재호출하지 않음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96596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9344"/>
            <a:ext cx="178308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이미지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업로드 저장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SHA-256 계산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2167128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34640" y="1554480"/>
            <a:ext cx="196596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609344"/>
            <a:ext cx="178308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캐시 조회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sha + 공급자 + 모델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적중 시 즉시 반환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00600" y="2167128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1554480"/>
            <a:ext cx="1965960" cy="123444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79" y="1609344"/>
            <a:ext cx="178308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VLM 호출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base64 JPEG ≤1024px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관찰 근거만 기술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2167128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06640" y="1554480"/>
            <a:ext cx="196596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1609344"/>
            <a:ext cx="178308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Pydantic 파싱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실패 → 1회 재요청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72600" y="2167128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692640" y="1554480"/>
            <a:ext cx="196596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0" y="1609344"/>
            <a:ext cx="178308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저장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outputs/cache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Chroma analysis_logs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3108960"/>
          <a:ext cx="6675120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14400"/>
                <a:gridCol w="393192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필드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허용값 · 규칙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growth_stage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enum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균사생장 / 원기형성 / 자실체생장 / 수확적기 / 과숙 / 판단불가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disease_suspected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enum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 / 푸른곰팡이병 / 세균성갈색무늬병 / 버섯파리 피해 / 기타 / 판단불가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confidence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float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 ~ 1.0 (범위 밖이면 검증 실패), 불확실하면 ≤ 0.3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visual_evidence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list[str]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이미지에서 관찰된 근거만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recommended_actions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list[str]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권장 조치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summary_ko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요약 · 2회 파싱 실패 시 판단불가 객체 반환(캐시 안 함)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9" name="Picture 18" descr="21_vision_result_mock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3108960"/>
            <a:ext cx="4160520" cy="301752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7452360" y="6153912"/>
            <a:ext cx="4160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21_vision_result_mock · mock 캡처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RAG: 재배 매뉴얼 검색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src/rag/ingest.py · retriever.py · python -m src.rag.ingest 로 재색인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문서 로딩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pdf(PyPDFLoader)·md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파일명·페이지 유지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2606040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34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청킹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Recursive splitter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600자 / overlap 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00600" y="2606040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0368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Embedding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multilingual-e5-small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query:/passage: 접두어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2606040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06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16367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Chroma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컬렉션 manuals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cosine 거리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72600" y="2606040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692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02367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검색·판정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top-k 4, 임계값 미만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→ '문서 근거 없음'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5486400" cy="2377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913632"/>
            <a:ext cx="5266944" cy="2231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출처 표기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모든 검색 결과에 파일명 · 페이지(PDF) · 청크 id · 유사도 포함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Agent 답변 끝에 [번호]와 출처 인용 (시스템 프롬프트 규칙)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UI: Tool 호출 이력 expander에 검색 근거 표 출력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840480"/>
            <a:ext cx="5303520" cy="237744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3913632"/>
            <a:ext cx="5084064" cy="2231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운영 처리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앱 최초 실행 시 vectorstore가 비면 자동 색인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EMBEDDING_MODEL=BAAI/bge-m3 전환 가능 · 기본 임계값 0.855(e5-small 보정값)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모델 로드 실패 시 해싱 폴백 + 사이드바 경고, 백엔드 변경 시 자동 재색인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RAG 검색 실측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빌드 시 실제 검색 결과 · Embedding: intfloat/multilingual-e5-small · 임계값 0.855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914400"/>
                <a:gridCol w="1463040"/>
                <a:gridCol w="2926080"/>
                <a:gridCol w="3017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질의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top-1 유사도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top-1 출처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판정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적정 생육 온도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0.883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oyster_mushroom_guide.md · c3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 제시 (기대와 일치)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푸른곰팡이병 방제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0.896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oyster_mushroom_guide.md · c5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 제시 (기대와 일치)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환기 관리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0.876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oyster_mushroom_guide.md · c4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 제시 (기대와 일치)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버섯파리 방제 방법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oyster_mushroom_guide.md · c6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 제시 (기대와 일치)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자동차 엔진오일 교체 주기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무관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0.824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oyster_mushroom_guide.md · c2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근거 없음 (기대와 일치)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비트코인 시세 전망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0.825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oyster_mushroom_guide.md · c3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근거 없음 (기대와 일치)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오늘 날씨 어때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무관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0.833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oyster_mushroom_guide.md · c7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근거 없음 (기대와 일치)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임계값 미만이면 Tool 결과를 '문서 근거 없음'으로 반환하고, Agent는 추측 답변을 하지 않음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보정 근거: 샘플 매뉴얼 7청크 기준 관련 질의 최소와 무관 질의 최대의 중간값. 실문서 색인 후 재보정 필요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Agent · Tool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src/agent/graph.py · StateGraph(agent ↔ ToolNode)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39112"/>
            <a:ext cx="2157984" cy="950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사용자 입력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질문 + [첨부 이미지 경로]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65960"/>
            <a:ext cx="2560320" cy="109728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84448" y="2039112"/>
            <a:ext cx="2340863" cy="950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agent 노드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LLM.bind_tools → tool_calls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96596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93408" y="2039112"/>
            <a:ext cx="2157984" cy="950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ToolNode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Tool 실행 → ToolMessage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1965960"/>
            <a:ext cx="2103120" cy="109728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9488" y="2039112"/>
            <a:ext cx="1883663" cy="950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최종 답변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출처·주의사항 포함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5486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35040" y="2331720"/>
            <a:ext cx="5486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035040" y="2743200"/>
            <a:ext cx="5486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754880" y="1645920"/>
            <a:ext cx="0" cy="320040"/>
          </a:xfrm>
          <a:prstGeom prst="line">
            <a:avLst/>
          </a:prstGeom>
          <a:ln w="22225">
            <a:solidFill>
              <a:srgbClr val="5E8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54880" y="1645920"/>
            <a:ext cx="5806440" cy="0"/>
          </a:xfrm>
          <a:prstGeom prst="line">
            <a:avLst/>
          </a:prstGeom>
          <a:ln w="22225">
            <a:solidFill>
              <a:srgbClr val="5E8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561320" y="1645920"/>
            <a:ext cx="0" cy="320040"/>
          </a:xfrm>
          <a:prstGeom prst="line">
            <a:avLst/>
          </a:prstGeom>
          <a:ln w="22225">
            <a:solidFill>
              <a:srgbClr val="5E8C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949440" y="1298448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E8C4A"/>
                </a:solidFill>
                <a:latin typeface="Malgun Gothic"/>
                <a:ea typeface="Malgun Gothic"/>
                <a:cs typeface="Malgun Gothic"/>
              </a:rPr>
              <a:t>tool_calls 없음 또는 6회 도달 → 종료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29000"/>
            <a:ext cx="5440680" cy="1005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502152"/>
            <a:ext cx="5221224" cy="859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rag_search(query)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재배 방법·환경·방제 질문, 문서 요약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429000"/>
            <a:ext cx="5440680" cy="1005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3502152"/>
            <a:ext cx="5221224" cy="859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analyze_mushroom_image(image_path, question)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첨부 이미지 상태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17720"/>
            <a:ext cx="5440680" cy="1005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690872"/>
            <a:ext cx="5221224" cy="859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write_farm_diary(date, notes)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"오늘 일지 써줘" — 메모의 온도·습도·CO2 반영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617720"/>
            <a:ext cx="5440680" cy="1005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4690872"/>
            <a:ext cx="5221224" cy="859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get_mushroom_price(period)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가격·시세 질문 — 1w/1m/3m/6m/1y/all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반복 6회 제한: 마지막 회차는 Tool 없이 답변 생성 · 429/연결 오류는 지수 백오프 2회 후 'API 한도 초과 또는 모델 서버 미연결' 표시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Tool 명세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모든 Tool은 (LLM용 텍스트, UI용 artifact)를 함께 반환 — content_and_artifact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2560320"/>
                <a:gridCol w="2651760"/>
                <a:gridCol w="201168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호출 조건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LLM에 주는 결과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UI 표시(artifact)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rag_search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query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 방법·환경·방제·문서 요약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구절 + [번호]·출처·유사도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 근거 표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analyze_mushroom_image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image_path,</a:t>
                      </a:r>
                    </a:p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question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[첨부 이미지 경로]가 있는 질문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생육 단계·병해충·신뢰도·근거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구조화 JSON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write_farm_diary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date, notes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"일지 써줘" 등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저장 경로 + 일지 본문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저장 경로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get_mushroom_price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period</a:t>
                      </a:r>
                    </a:p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(1w~all)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가격·시세 질문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도매·소매 기간 요약 + 출처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요약 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5074920"/>
          <a:ext cx="110642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안전·제한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이미지 경로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outputs/uploads, data/raw/images, data/sample/images만 허용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반복 제한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최대 6회, 마지막 회차는 Tool 없이 최종 답변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오류 처리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429·연결 오류 지수 백오프 2회 → 'API 한도 초과 또는 모델 서버 미연결'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AI 상담 ① 문서 질의 → rag_search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Agent 응답과 Tool 호출 이력(입력·검색 근거 표·결과 요약)</a:t>
            </a:r>
          </a:p>
        </p:txBody>
      </p:sp>
      <p:pic>
        <p:nvPicPr>
          <p:cNvPr id="4" name="Picture 3" descr="31_chat_rag_mock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5486400" cy="466344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199632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31_chat_rag_mock · mock 캡처</a:t>
            </a:r>
          </a:p>
        </p:txBody>
      </p:sp>
      <p:pic>
        <p:nvPicPr>
          <p:cNvPr id="6" name="Picture 5" descr="35_chat_trace_rag_m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08760"/>
            <a:ext cx="5349240" cy="4011929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63640" y="5548122"/>
            <a:ext cx="53492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35_chat_trace_rag_mock · mock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5806440"/>
            <a:ext cx="5349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mock 응답은 Tool 결과를 그대로 묶은 고정 형식이며 LLM 요약이 아님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AI 상담 ② 질의 유형별 Tool 선택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같은 대화창에서 가격·이미지·일지 요청을 각각 다른 Tool로 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35661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"최근 가격 알려줘" → get_mushroom_price(1m)</a:t>
            </a:r>
          </a:p>
        </p:txBody>
      </p:sp>
      <p:pic>
        <p:nvPicPr>
          <p:cNvPr id="5" name="Picture 4" descr="32_chat_price_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3566160" cy="2911151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4995983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32_chat_price_mock · mock 캡처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1481328"/>
            <a:ext cx="35661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이미지 첨부 + "상태 어때?" → analyze_mushroom_image</a:t>
            </a:r>
          </a:p>
        </p:txBody>
      </p:sp>
      <p:pic>
        <p:nvPicPr>
          <p:cNvPr id="8" name="Picture 7" descr="33_chat_image_mock_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057400"/>
            <a:ext cx="3566160" cy="411480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297679" y="6199632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33_chat_image_mock · mock 캡처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1481328"/>
            <a:ext cx="35661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"오늘 일지 써줘. 온도 16도…" → write_farm_diary</a:t>
            </a:r>
          </a:p>
        </p:txBody>
      </p:sp>
      <p:pic>
        <p:nvPicPr>
          <p:cNvPr id="11" name="Picture 10" descr="34_chat_diary_mock_0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057400"/>
            <a:ext cx="3566160" cy="411480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8046719" y="6199632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34_chat_diary_mock · mock 캡처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영농일지 (탭 4 · write_farm_diary)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src/diary/writer.py · outputs/diary/YYYY-MM-DD.md 저장 + 다운로드</a:t>
            </a:r>
          </a:p>
        </p:txBody>
      </p:sp>
      <p:pic>
        <p:nvPicPr>
          <p:cNvPr id="4" name="Picture 3" descr="04_farm_diary_mock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4206240" cy="466344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199632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04_farm_diary_mock · mock 캡처</a:t>
            </a:r>
          </a:p>
        </p:txBody>
      </p:sp>
      <p:pic>
        <p:nvPicPr>
          <p:cNvPr id="6" name="Picture 5" descr="41_diary_markdown_m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508760"/>
            <a:ext cx="3291840" cy="3651255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937760" y="5187447"/>
            <a:ext cx="32918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41_diary_markdown_mock · mock 캡처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412480" y="1508760"/>
          <a:ext cx="320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9659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양식 항목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채우는 값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날짜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날짜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재배사 환경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온도 ℃ · 습도 % · CO2 ppm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생육 상태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선택한 분석 결과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 병해충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선택한 분석 결과 + 근거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 작업 내용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작업 메모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 익일 계획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 생성(입력 외 수치 금지)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412480" y="4892040"/>
            <a:ext cx="32004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• 미입력 환경값은 '미입력'으로 표기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• 모델 오류 시 익일 계획만 실패 문구로 대체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시연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LLM_PROVIDER=mock으로 키 없이 전체 흐름 재현 가능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4592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00784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71907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대시보드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737360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SAMPLE 배지 확인 → 기간·지역 필터, 일/월 전환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2316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478024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49631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이미지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514600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이미지 업로드 → 분석 실행 → JSON·캐시 적중 확인(재실행)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0040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55264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27355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문서 질의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291840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"자실체 생육기 적정 온도와 환기 관리는?" → rag_search, 출처 표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977639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32503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050791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이미지 질의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069079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AI 상담에 이미지 첨부 + "상태 어때?" → analyze_mushroom_image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75488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809744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가격 질의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846320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"최근 가격 알려줘" → get_mushroom_price(1m)</a:t>
            </a:r>
          </a:p>
        </p:txBody>
      </p:sp>
      <p:sp>
        <p:nvSpPr>
          <p:cNvPr id="24" name="Oval 23"/>
          <p:cNvSpPr/>
          <p:nvPr/>
        </p:nvSpPr>
        <p:spPr>
          <a:xfrm>
            <a:off x="548640" y="553212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586983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60527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영농일지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5623559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"오늘 일지 써줘. 온도 16도 습도 90%" 또는 탭 4에서 작성 → md 다운로드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검증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LLM_PROVIDER=mock (키 없이) · 빌드 시 pytest 실제 실행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642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pytest 전체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32918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37 passed in 17.24s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389120" y="1554480"/>
          <a:ext cx="722376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931920"/>
                <a:gridCol w="640080"/>
                <a:gridCol w="640080"/>
                <a:gridCol w="6400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테스트 파일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검증 내용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통과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실패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skip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test_agent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질의별 Tool 선택 4건, 6회 제한, 오류 처리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test_data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샘플 대체, KAMIS 컬럼 매핑, KOSIS wide→long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test_llm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factory·mock tool_calls 형식, 429 백오프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test_rag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출처 반환, 문서 근거 없음, e5 접두어, 실 Embedding 분리도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test_vision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JSON 스키마, 캐시, 1회 재요청, analysis_logs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test_zip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제출 zip 포함·제외 규칙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343400"/>
          <a:ext cx="11064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645920"/>
                <a:gridCol w="63093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비고</a:t>
                      </a:r>
                    </a:p>
                  </a:txBody>
                  <a:tcPr marL="73152" marR="73152" marT="36576" marB="36576" anchor="ctr">
                    <a:solidFill>
                      <a:srgbClr val="1F3A2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 Embedding (e5-small)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검증 완료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RAG 실측 슬라이드 참고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Gemini·Ollama 실제 호출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미검증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API 키·모델 서버 없음 → mock으로 대체 검증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VLM 판독 정확도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미측정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라벨링 이미지셋 필요</a:t>
                      </a:r>
                    </a:p>
                  </a:txBody>
                  <a:tcPr marL="73152" marR="73152" marT="36576" marB="36576" anchor="ctr">
                    <a:solidFill>
                      <a:srgbClr val="EE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KAMIS Open API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미검증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파라미터 [미확인], 접속 불가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한계와 개선점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데이터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14600" y="1371600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51760" y="1371600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가격·생산 통계와 이미지가 샘플/더미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371600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1371600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KAMIS·KOSIS 파일과 실제 재배 사진 투입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59152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59152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359152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2359152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Zero-shot VLM, 정량 정확도 미측정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2359152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359152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라벨링 이미지셋 구축 후 정확도 평가, 필요 시 ViT/YOLO 미세조정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46704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346704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3346704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0" y="3346704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임계값 0.855는 샘플 문서 7청크로만 보정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3346704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3346704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공식 매뉴얼 색인 후 질의셋으로 임계값 재보정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334256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34256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Agent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4334256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4334256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mock은 키워드 규칙이라 복합 질의 미처리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4334256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4334256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실모델로 다중 Tool 연쇄 호출 평가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21808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321808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가격 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4600" y="5321808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51760" y="5321808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KAMIS 파라미터·품목코드 [미확인]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86600" y="5321808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0" y="5321808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공식 문서 확인 후 품목코드 .env 설정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