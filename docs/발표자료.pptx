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멀티모달 AI Agent 기반 스마트 농업 서비스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880360"/>
            <a:ext cx="105156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EEF3EA"/>
                </a:solidFill>
                <a:latin typeface="Malgun Gothic"/>
                <a:ea typeface="Malgun Gothic"/>
                <a:cs typeface="Malgun Gothic"/>
              </a:rPr>
              <a:t>대상 작물: 느타리버섯 · Streamlit + LangGraph + VLM + RAG(Chroma)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931920"/>
            <a:ext cx="5120640" cy="1371600"/>
          </a:xfrm>
          <a:prstGeom prst="roundRect">
            <a:avLst>
              <a:gd name="adj" fmla="val 8000"/>
            </a:avLst>
          </a:prstGeom>
          <a:solidFill>
            <a:srgbClr val="2C4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041648"/>
            <a:ext cx="484632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구현 범위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EEF3EA"/>
                </a:solidFill>
                <a:latin typeface="Malgun Gothic"/>
                <a:ea typeface="Malgun Gothic"/>
                <a:cs typeface="Malgun Gothic"/>
              </a:rPr>
              <a:t>대시보드 · 이미지 분석 · AI 상담 · 영농일지 (4개 탭)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EEF3EA"/>
                </a:solidFill>
                <a:latin typeface="Malgun Gothic"/>
                <a:ea typeface="Malgun Gothic"/>
                <a:cs typeface="Malgun Gothic"/>
              </a:rPr>
              <a:t>Agent Tool 4종: rag_search / analyze / diary / price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F3A2B"/>
                </a:solidFill>
                <a:latin typeface="Malgun Gothic"/>
                <a:ea typeface="Malgun Gothic"/>
                <a:cs typeface="Malgun Gothic"/>
              </a:rPr>
              <a:t>과제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F635C"/>
                </a:solidFill>
                <a:latin typeface="Malgun Gothic"/>
                <a:ea typeface="Malgun Gothic"/>
                <a:cs typeface="Malgun Gothic"/>
              </a:rPr>
              <a:t>요구사항 6개 항목과 구현 위치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3520440" cy="2103120"/>
          </a:xfrm>
          <a:prstGeom prst="roundRect">
            <a:avLst>
              <a:gd name="adj" fmla="val 8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10512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1F3A2B"/>
                </a:solidFill>
                <a:latin typeface="Malgun Gothic"/>
                <a:ea typeface="Malgun Gothic"/>
                <a:cs typeface="Malgun Gothic"/>
              </a:rPr>
              <a:t>1  데이터 선정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23160"/>
            <a:ext cx="320040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가격(KAMIS)·지역 생산(KOSIS)·재배 매뉴얼·이미지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data/raw 우선, 없으면 SAMPLE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79" y="1645920"/>
            <a:ext cx="3520440" cy="2103120"/>
          </a:xfrm>
          <a:prstGeom prst="roundRect">
            <a:avLst>
              <a:gd name="adj" fmla="val 8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59" y="1810512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1F3A2B"/>
                </a:solidFill>
                <a:latin typeface="Malgun Gothic"/>
                <a:ea typeface="Malgun Gothic"/>
                <a:cs typeface="Malgun Gothic"/>
              </a:rPr>
              <a:t>2  대시보드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59" y="2423160"/>
            <a:ext cx="320040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Streamlit + Plotly 차트 4종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KPI 3종 · 기간/지역 필터 · 출처 표기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19" y="1645920"/>
            <a:ext cx="3520440" cy="2103120"/>
          </a:xfrm>
          <a:prstGeom prst="roundRect">
            <a:avLst>
              <a:gd name="adj" fmla="val 8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9" y="1810512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1F3A2B"/>
                </a:solidFill>
                <a:latin typeface="Malgun Gothic"/>
                <a:ea typeface="Malgun Gothic"/>
                <a:cs typeface="Malgun Gothic"/>
              </a:rPr>
              <a:t>3  멀티모달·RAG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9" y="2423160"/>
            <a:ext cx="320040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VLM Zero-shot 이미지 분석(JSON)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매뉴얼·분석결과 → Embedding → Chroma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023360"/>
            <a:ext cx="3520440" cy="2103120"/>
          </a:xfrm>
          <a:prstGeom prst="roundRect">
            <a:avLst>
              <a:gd name="adj" fmla="val 8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187952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1F3A2B"/>
                </a:solidFill>
                <a:latin typeface="Malgun Gothic"/>
                <a:ea typeface="Malgun Gothic"/>
                <a:cs typeface="Malgun Gothic"/>
              </a:rPr>
              <a:t>4  AI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800600"/>
            <a:ext cx="320040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LangGraph ToolNode 그래프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Tool 4종 자동 선택 · 최대 6회 반복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79" y="4023360"/>
            <a:ext cx="3520440" cy="2103120"/>
          </a:xfrm>
          <a:prstGeom prst="roundRect">
            <a:avLst>
              <a:gd name="adj" fmla="val 8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59" y="4187952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1F3A2B"/>
                </a:solidFill>
                <a:latin typeface="Malgun Gothic"/>
                <a:ea typeface="Malgun Gothic"/>
                <a:cs typeface="Malgun Gothic"/>
              </a:rPr>
              <a:t>5  UI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59" y="4800600"/>
            <a:ext cx="320040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이미지 업로드·질문 입력·대시보드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검색 근거·Tool 이력·영농일지 출력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19" y="4023360"/>
            <a:ext cx="3520440" cy="2103120"/>
          </a:xfrm>
          <a:prstGeom prst="roundRect">
            <a:avLst>
              <a:gd name="adj" fmla="val 8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599" y="4187952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1F3A2B"/>
                </a:solidFill>
                <a:latin typeface="Malgun Gothic"/>
                <a:ea typeface="Malgun Gothic"/>
                <a:cs typeface="Malgun Gothic"/>
              </a:rPr>
              <a:t>6  제출물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9" y="4800600"/>
            <a:ext cx="320040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소스·캡처(Playwright)·PPT(python-pptx)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제출 zip(scripts/make_zip.py)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F3A2B"/>
                </a:solidFill>
                <a:latin typeface="Malgun Gothic"/>
                <a:ea typeface="Malgun Gothic"/>
                <a:cs typeface="Malgun Gothic"/>
              </a:rPr>
              <a:t>데이터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F635C"/>
                </a:solidFill>
                <a:latin typeface="Malgun Gothic"/>
                <a:ea typeface="Malgun Gothic"/>
                <a:cs typeface="Malgun Gothic"/>
              </a:rPr>
              <a:t>실데이터 투입 경로와 대체(SAMPLE) 규칙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110642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3291840"/>
                <a:gridCol w="4480560"/>
                <a:gridCol w="1828800"/>
              </a:tblGrid>
              <a:tr h="768096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>
                    <a:solidFill>
                      <a:srgbClr val="1F3A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투입 경로</a:t>
                      </a:r>
                    </a:p>
                  </a:txBody>
                  <a:tcPr>
                    <a:solidFill>
                      <a:srgbClr val="1F3A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</a:t>
                      </a:r>
                    </a:p>
                  </a:txBody>
                  <a:tcPr>
                    <a:solidFill>
                      <a:srgbClr val="1F3A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상태</a:t>
                      </a:r>
                    </a:p>
                  </a:txBody>
                  <a:tcPr>
                    <a:solidFill>
                      <a:srgbClr val="1F3A2B"/>
                    </a:solidFill>
                  </a:tcPr>
                </a:tc>
              </a:tr>
              <a:tr h="768096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가격</a:t>
                      </a:r>
                    </a:p>
                  </a:txBody>
                  <a:tcPr>
                    <a:solidFill>
                      <a:srgbClr val="EEF3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data/raw/price/*.xlsx|csv</a:t>
                      </a:r>
                    </a:p>
                    <a:p>
                      <a:r>
                        <a:rPr sz="1300" b="0" i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(KAMIS 웹 다운로드)</a:t>
                      </a:r>
                    </a:p>
                  </a:txBody>
                  <a:tcPr>
                    <a:solidFill>
                      <a:srgbClr val="EEF3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컬럼 매핑 dict, 실패 시 필요 컬럼 UI 표시</a:t>
                      </a:r>
                    </a:p>
                    <a:p>
                      <a:r>
                        <a:rPr sz="1300" b="0" i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KAMIS API는 키+품목코드 있을 때만</a:t>
                      </a:r>
                    </a:p>
                  </a:txBody>
                  <a:tcPr>
                    <a:solidFill>
                      <a:srgbClr val="EEF3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D96C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SAMPLE</a:t>
                      </a:r>
                    </a:p>
                  </a:txBody>
                  <a:tcPr>
                    <a:solidFill>
                      <a:srgbClr val="EEF3EA"/>
                    </a:solidFill>
                  </a:tcPr>
                </a:tc>
              </a:tr>
              <a:tr h="768096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지역 생산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data/raw/production/*.csv</a:t>
                      </a:r>
                    </a:p>
                    <a:p>
                      <a:r>
                        <a:rPr sz="1300" b="0" i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(KOSIS 특용작물생산실적)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wide→long, cp949/utf-8 자동 판별</a:t>
                      </a:r>
                    </a:p>
                    <a:p>
                      <a:r>
                        <a:rPr sz="1300" b="0" i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전국·계 행 제외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D96C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SAMPLE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재배 매뉴얼</a:t>
                      </a:r>
                    </a:p>
                  </a:txBody>
                  <a:tcPr>
                    <a:solidFill>
                      <a:srgbClr val="EEF3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data/raw/docs/*.pdf|md</a:t>
                      </a:r>
                    </a:p>
                  </a:txBody>
                  <a:tcPr>
                    <a:solidFill>
                      <a:srgbClr val="EEF3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PyPDFLoader, 파일명·페이지 메타데이터</a:t>
                      </a:r>
                    </a:p>
                  </a:txBody>
                  <a:tcPr>
                    <a:solidFill>
                      <a:srgbClr val="EEF3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D96C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샘플 매뉴얼(일반 상식)</a:t>
                      </a:r>
                    </a:p>
                  </a:txBody>
                  <a:tcPr>
                    <a:solidFill>
                      <a:srgbClr val="EEF3EA"/>
                    </a:solidFill>
                  </a:tcPr>
                </a:tc>
              </a:tr>
              <a:tr h="768096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이미지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data/raw/images/*.jpg|png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시연·테스트용(학습 없음, Zero-shot)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D96C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mock 더미 이미지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5715000"/>
            <a:ext cx="11064240" cy="640080"/>
          </a:xfrm>
          <a:prstGeom prst="roundRect">
            <a:avLst>
              <a:gd name="adj" fmla="val 8000"/>
            </a:avLst>
          </a:prstGeom>
          <a:solidFill>
            <a:srgbClr val="FD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779008"/>
            <a:ext cx="1078992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D96C2C"/>
                </a:solidFill>
                <a:latin typeface="Malgun Gothic"/>
                <a:ea typeface="Malgun Gothic"/>
                <a:cs typeface="Malgun Gothic"/>
              </a:rPr>
              <a:t>샘플 가격·생산량은 합성값(is_sample=True)이며 실측 통계가 아님. 대시보드 상단과 각 차트 하단에 SAMPLE로 표기함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F3A2B"/>
                </a:solidFill>
                <a:latin typeface="Malgun Gothic"/>
                <a:ea typeface="Malgun Gothic"/>
                <a:cs typeface="Malgun Gothic"/>
              </a:rPr>
              <a:t>시스템 아키텍처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F635C"/>
                </a:solidFill>
                <a:latin typeface="Malgun Gothic"/>
                <a:ea typeface="Malgun Gothic"/>
                <a:cs typeface="Malgun Gothic"/>
              </a:rPr>
              <a:t>공급자 생성은 src/llm/factory.py 한 곳에서만 수행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11064240" cy="868680"/>
          </a:xfrm>
          <a:prstGeom prst="roundRect">
            <a:avLst>
              <a:gd name="adj" fmla="val 8000"/>
            </a:avLst>
          </a:prstGeom>
          <a:solidFill>
            <a:srgbClr val="1F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673352"/>
            <a:ext cx="10844784" cy="722375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Streamlit UI (app.py)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EEF3EA"/>
                </a:solidFill>
                <a:latin typeface="Malgun Gothic"/>
                <a:ea typeface="Malgun Gothic"/>
                <a:cs typeface="Malgun Gothic"/>
              </a:rPr>
              <a:t>📊 대시보드   🔬 이미지 분석   💬 AI 상담   📝 영농일지   · 사이드바: LLM_PROVIDER·모델·Embedding 표시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880360"/>
            <a:ext cx="3291840" cy="1463040"/>
          </a:xfrm>
          <a:prstGeom prst="roundRect">
            <a:avLst>
              <a:gd name="adj" fmla="val 8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2953512"/>
            <a:ext cx="3072384" cy="1316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F3A2B"/>
                </a:solidFill>
                <a:latin typeface="Malgun Gothic"/>
                <a:ea typeface="Malgun Gothic"/>
                <a:cs typeface="Malgun Gothic"/>
              </a:rPr>
              <a:t>LangGraph Agent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agent 노드 ↔ ToolNode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최대 6회 · 429/연결 오류 백오프 2회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2880360"/>
            <a:ext cx="3931920" cy="1463040"/>
          </a:xfrm>
          <a:prstGeom prst="roundRect">
            <a:avLst>
              <a:gd name="adj" fmla="val 8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15968" y="2953512"/>
            <a:ext cx="3712463" cy="1316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F3A2B"/>
                </a:solidFill>
                <a:latin typeface="Malgun Gothic"/>
                <a:ea typeface="Malgun Gothic"/>
                <a:cs typeface="Malgun Gothic"/>
              </a:rPr>
              <a:t>Tools (src/agent/tools.py)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rag_search · analyze_mushroom_image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write_farm_diary · get_mushroom_price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20" y="2880360"/>
            <a:ext cx="3108960" cy="1463040"/>
          </a:xfrm>
          <a:prstGeom prst="roundRect">
            <a:avLst>
              <a:gd name="adj" fmla="val 8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13648" y="2953512"/>
            <a:ext cx="2889504" cy="1316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F3A2B"/>
                </a:solidFill>
                <a:latin typeface="Malgun Gothic"/>
                <a:ea typeface="Malgun Gothic"/>
                <a:cs typeface="Malgun Gothic"/>
              </a:rPr>
              <a:t>LLM factory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mock (기본, 키 불필요)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gemini · ollama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LLM_MODEL / VLM_MODEL 환경변수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92040"/>
            <a:ext cx="2057400" cy="1234440"/>
          </a:xfrm>
          <a:prstGeom prst="roundRect">
            <a:avLst>
              <a:gd name="adj" fmla="val 8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4965192"/>
            <a:ext cx="1837943" cy="10881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F3A2B"/>
                </a:solidFill>
                <a:latin typeface="Malgun Gothic"/>
                <a:ea typeface="Malgun Gothic"/>
                <a:cs typeface="Malgun Gothic"/>
              </a:rPr>
              <a:t>Chroma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manuals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analysis_logs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88920" y="4892040"/>
            <a:ext cx="2057400" cy="1234440"/>
          </a:xfrm>
          <a:prstGeom prst="roundRect">
            <a:avLst>
              <a:gd name="adj" fmla="val 8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98648" y="4965192"/>
            <a:ext cx="1837943" cy="10881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F3A2B"/>
                </a:solidFill>
                <a:latin typeface="Malgun Gothic"/>
                <a:ea typeface="Malgun Gothic"/>
                <a:cs typeface="Malgun Gothic"/>
              </a:rPr>
              <a:t>Embedding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sentence-transformers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e5 접두어 · 해싱 폴백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4892040"/>
            <a:ext cx="2057400" cy="1234440"/>
          </a:xfrm>
          <a:prstGeom prst="roundRect">
            <a:avLst>
              <a:gd name="adj" fmla="val 8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38928" y="4965192"/>
            <a:ext cx="1837943" cy="10881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F3A2B"/>
                </a:solidFill>
                <a:latin typeface="Malgun Gothic"/>
                <a:ea typeface="Malgun Gothic"/>
                <a:cs typeface="Malgun Gothic"/>
              </a:rPr>
              <a:t>Vision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Pydantic JSON 스키마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SHA-256 캐시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69480" y="4892040"/>
            <a:ext cx="2057400" cy="1234440"/>
          </a:xfrm>
          <a:prstGeom prst="roundRect">
            <a:avLst>
              <a:gd name="adj" fmla="val 8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79208" y="4965192"/>
            <a:ext cx="1837943" cy="10881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F3A2B"/>
                </a:solidFill>
                <a:latin typeface="Malgun Gothic"/>
                <a:ea typeface="Malgun Gothic"/>
                <a:cs typeface="Malgun Gothic"/>
              </a:rPr>
              <a:t>Data loaders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data/raw → SAMPLE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KAMIS API(선택)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09760" y="4892040"/>
            <a:ext cx="2057400" cy="1234440"/>
          </a:xfrm>
          <a:prstGeom prst="roundRect">
            <a:avLst>
              <a:gd name="adj" fmla="val 8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19488" y="4965192"/>
            <a:ext cx="1837943" cy="10881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F3A2B"/>
                </a:solidFill>
                <a:latin typeface="Malgun Gothic"/>
                <a:ea typeface="Malgun Gothic"/>
                <a:cs typeface="Malgun Gothic"/>
              </a:rPr>
              <a:t>outputs/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diary/*.md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cache · uploads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194560" y="2468880"/>
            <a:ext cx="0" cy="411480"/>
          </a:xfrm>
          <a:prstGeom prst="line">
            <a:avLst/>
          </a:prstGeom>
          <a:ln w="22225">
            <a:solidFill>
              <a:srgbClr val="5F63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840480" y="3611880"/>
            <a:ext cx="365760" cy="0"/>
          </a:xfrm>
          <a:prstGeom prst="line">
            <a:avLst/>
          </a:prstGeom>
          <a:ln w="22225">
            <a:solidFill>
              <a:srgbClr val="5F63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8138160" y="3611880"/>
            <a:ext cx="365760" cy="0"/>
          </a:xfrm>
          <a:prstGeom prst="line">
            <a:avLst/>
          </a:prstGeom>
          <a:ln w="22225">
            <a:solidFill>
              <a:srgbClr val="5F63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1554480" y="4343400"/>
            <a:ext cx="2926080" cy="548640"/>
          </a:xfrm>
          <a:prstGeom prst="line">
            <a:avLst/>
          </a:prstGeom>
          <a:ln w="22225">
            <a:solidFill>
              <a:srgbClr val="5F63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3794760" y="4343400"/>
            <a:ext cx="685800" cy="548640"/>
          </a:xfrm>
          <a:prstGeom prst="line">
            <a:avLst/>
          </a:prstGeom>
          <a:ln w="22225">
            <a:solidFill>
              <a:srgbClr val="5F63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035040" y="4343400"/>
            <a:ext cx="0" cy="548640"/>
          </a:xfrm>
          <a:prstGeom prst="line">
            <a:avLst/>
          </a:prstGeom>
          <a:ln w="22225">
            <a:solidFill>
              <a:srgbClr val="5F63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863840" y="4343400"/>
            <a:ext cx="411480" cy="548640"/>
          </a:xfrm>
          <a:prstGeom prst="line">
            <a:avLst/>
          </a:prstGeom>
          <a:ln w="22225">
            <a:solidFill>
              <a:srgbClr val="5F63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863840" y="4343400"/>
            <a:ext cx="2651760" cy="548640"/>
          </a:xfrm>
          <a:prstGeom prst="line">
            <a:avLst/>
          </a:prstGeom>
          <a:ln w="22225">
            <a:solidFill>
              <a:srgbClr val="5F63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F3A2B"/>
                </a:solidFill>
                <a:latin typeface="Malgun Gothic"/>
                <a:ea typeface="Malgun Gothic"/>
                <a:cs typeface="Malgun Gothic"/>
              </a:rPr>
              <a:t>대시보드 (탭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F635C"/>
                </a:solidFill>
                <a:latin typeface="Malgun Gothic"/>
                <a:ea typeface="Malgun Gothic"/>
                <a:cs typeface="Malgun Gothic"/>
              </a:rPr>
              <a:t>Streamlit + Plotly · 데이터 출처를 각 차트 하단에 표기</a:t>
            </a:r>
          </a:p>
        </p:txBody>
      </p:sp>
      <p:pic>
        <p:nvPicPr>
          <p:cNvPr id="4" name="Picture 3" descr="01_dashboard_mock_0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6766560" cy="4754880"/>
          </a:xfrm>
          <a:prstGeom prst="rect">
            <a:avLst/>
          </a:prstGeom>
          <a:ln w="12700">
            <a:solidFill>
              <a:srgbClr val="C9D3C4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67665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D96C2C"/>
                </a:solidFill>
                <a:latin typeface="Malgun Gothic"/>
                <a:ea typeface="Malgun Gothic"/>
                <a:cs typeface="Malgun Gothic"/>
              </a:rPr>
              <a:t>01_dashboard_mock.png · mock 모드 캡처 · 실모델 결과 아님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1645920"/>
            <a:ext cx="4114800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 i="0">
                <a:solidFill>
                  <a:srgbClr val="1F3A2B"/>
                </a:solidFill>
                <a:latin typeface="Malgun Gothic"/>
                <a:ea typeface="Malgun Gothic"/>
                <a:cs typeface="Malgun Gothic"/>
              </a:rPr>
              <a:t>차트 4종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① 가격 시계열 라인 — 일/월 전환, 도매·소매 구분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② 시도별 생산량 가로 막대 — 연도 선택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③ 시도별 생산량 전년 대비 증감률 히트맵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④ 도매 가격 월별 계절성 히트맵 (연 × 월)</a:t>
            </a:r>
          </a:p>
          <a:p>
            <a:pPr algn="l">
              <a:spcAft>
                <a:spcPts val="700"/>
              </a:spcAft>
            </a:pPr>
            <a:r>
              <a:rPr sz="1700" b="1" i="0">
                <a:solidFill>
                  <a:srgbClr val="1F3A2B"/>
                </a:solidFill>
                <a:latin typeface="Malgun Gothic"/>
                <a:ea typeface="Malgun Gothic"/>
                <a:cs typeface="Malgun Gothic"/>
              </a:rPr>
              <a:t>KPI · 필터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최근 도매가 · 전월 대비 %(월평균) · 최대 생산 지역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기간(date range) · 지역(multiselect)</a:t>
            </a:r>
          </a:p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5F635C"/>
                </a:solidFill>
                <a:latin typeface="Malgun Gothic"/>
                <a:ea typeface="Malgun Gothic"/>
                <a:cs typeface="Malgun Gothic"/>
              </a:rPr>
              <a:t>이중 축 미사용, 범주색 고정 순서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F3A2B"/>
                </a:solidFill>
                <a:latin typeface="Malgun Gothic"/>
                <a:ea typeface="Malgun Gothic"/>
                <a:cs typeface="Malgun Gothic"/>
              </a:rPr>
              <a:t>이미지 분석 (VLM Zero-shot)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F635C"/>
                </a:solidFill>
                <a:latin typeface="Malgun Gothic"/>
                <a:ea typeface="Malgun Gothic"/>
                <a:cs typeface="Malgun Gothic"/>
              </a:rPr>
              <a:t>src/vision/analyzer.py · 학습 코드 없음(학습 데이터 없음)</a:t>
            </a:r>
          </a:p>
        </p:txBody>
      </p:sp>
      <p:pic>
        <p:nvPicPr>
          <p:cNvPr id="4" name="Picture 3" descr="02_image_analysis_mock_0_3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6035040" cy="4480560"/>
          </a:xfrm>
          <a:prstGeom prst="rect">
            <a:avLst/>
          </a:prstGeom>
          <a:ln w="12700">
            <a:solidFill>
              <a:srgbClr val="C9D3C4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548640" y="6080760"/>
            <a:ext cx="60350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D96C2C"/>
                </a:solidFill>
                <a:latin typeface="Malgun Gothic"/>
                <a:ea typeface="Malgun Gothic"/>
                <a:cs typeface="Malgun Gothic"/>
              </a:rPr>
              <a:t>02_image_analysis_mock.png · mock 모드 캡처 · 실모델 결과 아님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600200"/>
            <a:ext cx="4754880" cy="2148840"/>
          </a:xfrm>
          <a:prstGeom prst="roundRect">
            <a:avLst>
              <a:gd name="adj" fmla="val 8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67728" y="1673352"/>
            <a:ext cx="4535424" cy="20025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F3A2B"/>
                </a:solidFill>
                <a:latin typeface="Malgun Gothic"/>
                <a:ea typeface="Malgun Gothic"/>
                <a:cs typeface="Malgun Gothic"/>
              </a:rPr>
              <a:t>구조화 출력 스키마 (Pydantic)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growth_stage: 균사생장/원기형성/자실체생장/수확적기/과숙/판단불가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disease_suspected: 정상/푸른곰팡이병/세균성갈색무늬병/버섯파리 피해/기타/판단불가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confidence 0~1 · visual_evidence[] · recommended_actions[] · summary_ko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3931920"/>
            <a:ext cx="4754880" cy="2103120"/>
          </a:xfrm>
          <a:prstGeom prst="roundRect">
            <a:avLst>
              <a:gd name="adj" fmla="val 8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67728" y="4005072"/>
            <a:ext cx="4535424" cy="1956815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F3A2B"/>
                </a:solidFill>
                <a:latin typeface="Malgun Gothic"/>
                <a:ea typeface="Malgun Gothic"/>
                <a:cs typeface="Malgun Gothic"/>
              </a:rPr>
              <a:t>처리 규칙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프롬프트: 관찰 근거만 기술, 불확실하면 판단불가·낮은 신뢰도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파싱 실패 → 1회 재요청 → 실패 시 판단불가 반환(캐시 안 함)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SHA-256(+공급자·모델) 키 캐시: 같은 이미지는 재호출 없음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결과를 Chroma analysis_logs에 메타데이터와 함께 저장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F3A2B"/>
                </a:solidFill>
                <a:latin typeface="Malgun Gothic"/>
                <a:ea typeface="Malgun Gothic"/>
                <a:cs typeface="Malgun Gothic"/>
              </a:rPr>
              <a:t>RAG: 재배 매뉴얼 검색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F635C"/>
                </a:solidFill>
                <a:latin typeface="Malgun Gothic"/>
                <a:ea typeface="Malgun Gothic"/>
                <a:cs typeface="Malgun Gothic"/>
              </a:rPr>
              <a:t>src/rag/ingest.py · retriever.py · python -m src.rag.ingest 로 재색인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1965960" cy="1737360"/>
          </a:xfrm>
          <a:prstGeom prst="roundRect">
            <a:avLst>
              <a:gd name="adj" fmla="val 8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828800"/>
            <a:ext cx="1783080" cy="1600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F3A2B"/>
                </a:solidFill>
                <a:latin typeface="Malgun Gothic"/>
                <a:ea typeface="Malgun Gothic"/>
                <a:cs typeface="Malgun Gothic"/>
              </a:rPr>
              <a:t>문서 로딩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pdf(PyPDFLoader)·md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파일명·페이지 유지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14600" y="2606040"/>
            <a:ext cx="320040" cy="0"/>
          </a:xfrm>
          <a:prstGeom prst="line">
            <a:avLst/>
          </a:prstGeom>
          <a:ln w="22225">
            <a:solidFill>
              <a:srgbClr val="5F63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834640" y="1737360"/>
            <a:ext cx="1965960" cy="1737360"/>
          </a:xfrm>
          <a:prstGeom prst="roundRect">
            <a:avLst>
              <a:gd name="adj" fmla="val 8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44368" y="1828800"/>
            <a:ext cx="1783080" cy="1600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F3A2B"/>
                </a:solidFill>
                <a:latin typeface="Malgun Gothic"/>
                <a:ea typeface="Malgun Gothic"/>
                <a:cs typeface="Malgun Gothic"/>
              </a:rPr>
              <a:t>청킹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Recursive splitter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600자 / overlap 100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800600" y="2606040"/>
            <a:ext cx="320040" cy="0"/>
          </a:xfrm>
          <a:prstGeom prst="line">
            <a:avLst/>
          </a:prstGeom>
          <a:ln w="22225">
            <a:solidFill>
              <a:srgbClr val="5F63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120640" y="1737360"/>
            <a:ext cx="1965960" cy="1737360"/>
          </a:xfrm>
          <a:prstGeom prst="roundRect">
            <a:avLst>
              <a:gd name="adj" fmla="val 8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0368" y="1828800"/>
            <a:ext cx="1783080" cy="1600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F3A2B"/>
                </a:solidFill>
                <a:latin typeface="Malgun Gothic"/>
                <a:ea typeface="Malgun Gothic"/>
                <a:cs typeface="Malgun Gothic"/>
              </a:rPr>
              <a:t>Embedding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multilingual-e5-small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query:/passage: 접두어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086600" y="2606040"/>
            <a:ext cx="320040" cy="0"/>
          </a:xfrm>
          <a:prstGeom prst="line">
            <a:avLst/>
          </a:prstGeom>
          <a:ln w="22225">
            <a:solidFill>
              <a:srgbClr val="5F63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406640" y="1737360"/>
            <a:ext cx="1965960" cy="1737360"/>
          </a:xfrm>
          <a:prstGeom prst="roundRect">
            <a:avLst>
              <a:gd name="adj" fmla="val 8000"/>
            </a:avLst>
          </a:prstGeom>
          <a:solidFill>
            <a:srgbClr val="1F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16367" y="1828800"/>
            <a:ext cx="1783080" cy="1600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Chroma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EEF3EA"/>
                </a:solidFill>
                <a:latin typeface="Malgun Gothic"/>
                <a:ea typeface="Malgun Gothic"/>
                <a:cs typeface="Malgun Gothic"/>
              </a:rPr>
              <a:t>컬렉션 manuals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EEF3EA"/>
                </a:solidFill>
                <a:latin typeface="Malgun Gothic"/>
                <a:ea typeface="Malgun Gothic"/>
                <a:cs typeface="Malgun Gothic"/>
              </a:rPr>
              <a:t>cosine 거리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372600" y="2606040"/>
            <a:ext cx="320040" cy="0"/>
          </a:xfrm>
          <a:prstGeom prst="line">
            <a:avLst/>
          </a:prstGeom>
          <a:ln w="22225">
            <a:solidFill>
              <a:srgbClr val="5F63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692640" y="1737360"/>
            <a:ext cx="1965960" cy="1737360"/>
          </a:xfrm>
          <a:prstGeom prst="roundRect">
            <a:avLst>
              <a:gd name="adj" fmla="val 8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02367" y="1828800"/>
            <a:ext cx="1783080" cy="1600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F3A2B"/>
                </a:solidFill>
                <a:latin typeface="Malgun Gothic"/>
                <a:ea typeface="Malgun Gothic"/>
                <a:cs typeface="Malgun Gothic"/>
              </a:rPr>
              <a:t>검색·판정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top-k 4, 임계값 미만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→ '문서 근거 없음'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840480"/>
            <a:ext cx="5486400" cy="2377440"/>
          </a:xfrm>
          <a:prstGeom prst="roundRect">
            <a:avLst>
              <a:gd name="adj" fmla="val 8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3913632"/>
            <a:ext cx="5266944" cy="22311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F3A2B"/>
                </a:solidFill>
                <a:latin typeface="Malgun Gothic"/>
                <a:ea typeface="Malgun Gothic"/>
                <a:cs typeface="Malgun Gothic"/>
              </a:rPr>
              <a:t>출처 표기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모든 검색 결과에 파일명 · 페이지(PDF) · 청크 id · 유사도 포함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Agent 답변 끝에 [번호]와 출처 인용 (시스템 프롬프트 규칙)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UI: Tool 호출 이력 expander에 검색 근거 표 출력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3840480"/>
            <a:ext cx="5303520" cy="2377440"/>
          </a:xfrm>
          <a:prstGeom prst="roundRect">
            <a:avLst>
              <a:gd name="adj" fmla="val 8000"/>
            </a:avLst>
          </a:prstGeom>
          <a:solidFill>
            <a:srgbClr val="FD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3913632"/>
            <a:ext cx="5084064" cy="22311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D96C2C"/>
                </a:solidFill>
                <a:latin typeface="Malgun Gothic"/>
                <a:ea typeface="Malgun Gothic"/>
                <a:cs typeface="Malgun Gothic"/>
              </a:rPr>
              <a:t>운영 처리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앱 최초 실행 시 vectorstore가 비면 자동 색인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EMBEDDING_MODEL=BAAI/bge-m3 전환 가능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모델 로드 실패 시 해싱 폴백 + 사이드바 경고, 백엔드 변경 시 자동 재색인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F3A2B"/>
                </a:solidFill>
                <a:latin typeface="Malgun Gothic"/>
                <a:ea typeface="Malgun Gothic"/>
                <a:cs typeface="Malgun Gothic"/>
              </a:rPr>
              <a:t>Agent · Tool 흐름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F635C"/>
                </a:solidFill>
                <a:latin typeface="Malgun Gothic"/>
                <a:ea typeface="Malgun Gothic"/>
                <a:cs typeface="Malgun Gothic"/>
              </a:rPr>
              <a:t>src/agent/graph.py · StateGraph(agent ↔ ToolNode)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65960"/>
            <a:ext cx="2377440" cy="1097280"/>
          </a:xfrm>
          <a:prstGeom prst="roundRect">
            <a:avLst>
              <a:gd name="adj" fmla="val 8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039112"/>
            <a:ext cx="2157984" cy="95097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F3A2B"/>
                </a:solidFill>
                <a:latin typeface="Malgun Gothic"/>
                <a:ea typeface="Malgun Gothic"/>
                <a:cs typeface="Malgun Gothic"/>
              </a:rPr>
              <a:t>사용자 입력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질문 + [첨부 이미지 경로]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965960"/>
            <a:ext cx="2560320" cy="1097280"/>
          </a:xfrm>
          <a:prstGeom prst="roundRect">
            <a:avLst>
              <a:gd name="adj" fmla="val 8000"/>
            </a:avLst>
          </a:prstGeom>
          <a:solidFill>
            <a:srgbClr val="1F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84448" y="2039112"/>
            <a:ext cx="2340863" cy="95097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agent 노드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EEF3EA"/>
                </a:solidFill>
                <a:latin typeface="Malgun Gothic"/>
                <a:ea typeface="Malgun Gothic"/>
                <a:cs typeface="Malgun Gothic"/>
              </a:rPr>
              <a:t>LLM.bind_tools → tool_calls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965960"/>
            <a:ext cx="2377440" cy="1097280"/>
          </a:xfrm>
          <a:prstGeom prst="roundRect">
            <a:avLst>
              <a:gd name="adj" fmla="val 8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93408" y="2039112"/>
            <a:ext cx="2157984" cy="95097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F3A2B"/>
                </a:solidFill>
                <a:latin typeface="Malgun Gothic"/>
                <a:ea typeface="Malgun Gothic"/>
                <a:cs typeface="Malgun Gothic"/>
              </a:rPr>
              <a:t>ToolNode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Tool 실행 → ToolMessage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09760" y="1965960"/>
            <a:ext cx="2103120" cy="1097280"/>
          </a:xfrm>
          <a:prstGeom prst="roundRect">
            <a:avLst>
              <a:gd name="adj" fmla="val 8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19488" y="2039112"/>
            <a:ext cx="1883663" cy="95097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F3A2B"/>
                </a:solidFill>
                <a:latin typeface="Malgun Gothic"/>
                <a:ea typeface="Malgun Gothic"/>
                <a:cs typeface="Malgun Gothic"/>
              </a:rPr>
              <a:t>최종 답변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출처·주의사항 포함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926080" y="2514600"/>
            <a:ext cx="548640" cy="0"/>
          </a:xfrm>
          <a:prstGeom prst="line">
            <a:avLst/>
          </a:prstGeom>
          <a:ln w="22225">
            <a:solidFill>
              <a:srgbClr val="5F63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035040" y="2331720"/>
            <a:ext cx="548640" cy="0"/>
          </a:xfrm>
          <a:prstGeom prst="line">
            <a:avLst/>
          </a:prstGeom>
          <a:ln w="22225">
            <a:solidFill>
              <a:srgbClr val="5F63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6035040" y="2743200"/>
            <a:ext cx="548640" cy="0"/>
          </a:xfrm>
          <a:prstGeom prst="line">
            <a:avLst/>
          </a:prstGeom>
          <a:ln w="22225">
            <a:solidFill>
              <a:srgbClr val="5F63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4754880" y="1645920"/>
            <a:ext cx="0" cy="320040"/>
          </a:xfrm>
          <a:prstGeom prst="line">
            <a:avLst/>
          </a:prstGeom>
          <a:ln w="22225">
            <a:solidFill>
              <a:srgbClr val="5E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754880" y="1645920"/>
            <a:ext cx="5806440" cy="0"/>
          </a:xfrm>
          <a:prstGeom prst="line">
            <a:avLst/>
          </a:prstGeom>
          <a:ln w="22225">
            <a:solidFill>
              <a:srgbClr val="5E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561320" y="1645920"/>
            <a:ext cx="0" cy="320040"/>
          </a:xfrm>
          <a:prstGeom prst="line">
            <a:avLst/>
          </a:prstGeom>
          <a:ln w="22225">
            <a:solidFill>
              <a:srgbClr val="5E8C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949440" y="1298448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E8C4A"/>
                </a:solidFill>
                <a:latin typeface="Malgun Gothic"/>
                <a:ea typeface="Malgun Gothic"/>
                <a:cs typeface="Malgun Gothic"/>
              </a:rPr>
              <a:t>tool_calls 없음 또는 6회 도달 → 종료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429000"/>
            <a:ext cx="5440680" cy="1005840"/>
          </a:xfrm>
          <a:prstGeom prst="roundRect">
            <a:avLst>
              <a:gd name="adj" fmla="val 8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3502152"/>
            <a:ext cx="5221224" cy="8595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F3A2B"/>
                </a:solidFill>
                <a:latin typeface="Malgun Gothic"/>
                <a:ea typeface="Malgun Gothic"/>
                <a:cs typeface="Malgun Gothic"/>
              </a:rPr>
              <a:t>rag_search(query)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재배 방법·환경·방제 질문, 문서 요약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429000"/>
            <a:ext cx="5440680" cy="1005840"/>
          </a:xfrm>
          <a:prstGeom prst="roundRect">
            <a:avLst>
              <a:gd name="adj" fmla="val 8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81928" y="3502152"/>
            <a:ext cx="5221224" cy="8595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F3A2B"/>
                </a:solidFill>
                <a:latin typeface="Malgun Gothic"/>
                <a:ea typeface="Malgun Gothic"/>
                <a:cs typeface="Malgun Gothic"/>
              </a:rPr>
              <a:t>analyze_mushroom_image(image_path, question)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첨부 이미지 상태 질문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617720"/>
            <a:ext cx="5440680" cy="1005840"/>
          </a:xfrm>
          <a:prstGeom prst="roundRect">
            <a:avLst>
              <a:gd name="adj" fmla="val 8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4690872"/>
            <a:ext cx="5221224" cy="8595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F3A2B"/>
                </a:solidFill>
                <a:latin typeface="Malgun Gothic"/>
                <a:ea typeface="Malgun Gothic"/>
                <a:cs typeface="Malgun Gothic"/>
              </a:rPr>
              <a:t>write_farm_diary(date, notes)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"오늘 일지 써줘" — 메모의 온도·습도·CO2 반영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4617720"/>
            <a:ext cx="5440680" cy="1005840"/>
          </a:xfrm>
          <a:prstGeom prst="roundRect">
            <a:avLst>
              <a:gd name="adj" fmla="val 8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81928" y="4690872"/>
            <a:ext cx="5221224" cy="8595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F3A2B"/>
                </a:solidFill>
                <a:latin typeface="Malgun Gothic"/>
                <a:ea typeface="Malgun Gothic"/>
                <a:cs typeface="Malgun Gothic"/>
              </a:rPr>
              <a:t>get_mushroom_price(period)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가격·시세 질문 — 1w/1m/3m/6m/1y/all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897880"/>
            <a:ext cx="110642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F635C"/>
                </a:solidFill>
                <a:latin typeface="Malgun Gothic"/>
                <a:ea typeface="Malgun Gothic"/>
                <a:cs typeface="Malgun Gothic"/>
              </a:rPr>
              <a:t>반복 6회 제한: 마지막 회차는 Tool 없이 답변 생성 · 429/연결 오류는 지수 백오프 2회 후 'API 한도 초과 또는 모델 서버 미연결' 표시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F3A2B"/>
                </a:solidFill>
                <a:latin typeface="Malgun Gothic"/>
                <a:ea typeface="Malgun Gothic"/>
                <a:cs typeface="Malgun Gothic"/>
              </a:rPr>
              <a:t>UI: AI 상담 (탭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F635C"/>
                </a:solidFill>
                <a:latin typeface="Malgun Gothic"/>
                <a:ea typeface="Malgun Gothic"/>
                <a:cs typeface="Malgun Gothic"/>
              </a:rPr>
              <a:t>검색 근거와 Tool 호출 이력을 st.expander로 표시 · 대화 이력은 session_state</a:t>
            </a:r>
          </a:p>
        </p:txBody>
      </p:sp>
      <p:pic>
        <p:nvPicPr>
          <p:cNvPr id="4" name="Picture 3" descr="03_ai_chat_mock_0_3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7315200" cy="4754880"/>
          </a:xfrm>
          <a:prstGeom prst="rect">
            <a:avLst/>
          </a:prstGeom>
          <a:ln w="12700">
            <a:solidFill>
              <a:srgbClr val="C9D3C4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D96C2C"/>
                </a:solidFill>
                <a:latin typeface="Malgun Gothic"/>
                <a:ea typeface="Malgun Gothic"/>
                <a:cs typeface="Malgun Gothic"/>
              </a:rPr>
              <a:t>03_ai_chat_mock.png · mock 모드 캡처 · 실모델 결과 아님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1645920"/>
            <a:ext cx="3566160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1F3A2B"/>
                </a:solidFill>
                <a:latin typeface="Malgun Gothic"/>
                <a:ea typeface="Malgun Gothic"/>
                <a:cs typeface="Malgun Gothic"/>
              </a:rPr>
              <a:t>화면 구성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질문 입력 + 이미지 첨부(선택)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업로드 이미지는 outputs/uploads/에 저장 후 경로를 메시지에 첨부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Tool별 표시: 입력 JSON, 검색 근거 표, 가격 요약 표, 일지 저장 경로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D96C2C"/>
                </a:solidFill>
                <a:latin typeface="Malgun Gothic"/>
                <a:ea typeface="Malgun Gothic"/>
                <a:cs typeface="Malgun Gothic"/>
              </a:rPr>
              <a:t>mock 모드 답변은 도구 결과를 그대로 묶은 고정 형식이며 LLM 요약이 아님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F3A2B"/>
                </a:solidFill>
                <a:latin typeface="Malgun Gothic"/>
                <a:ea typeface="Malgun Gothic"/>
                <a:cs typeface="Malgun Gothic"/>
              </a:rPr>
              <a:t>영농일지 (탭 4 · write_farm_diary)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F635C"/>
                </a:solidFill>
                <a:latin typeface="Malgun Gothic"/>
                <a:ea typeface="Malgun Gothic"/>
                <a:cs typeface="Malgun Gothic"/>
              </a:rPr>
              <a:t>src/diary/writer.py · outputs/diary/YYYY-MM-DD.md 저장 + 다운로드</a:t>
            </a:r>
          </a:p>
        </p:txBody>
      </p:sp>
      <p:pic>
        <p:nvPicPr>
          <p:cNvPr id="4" name="Picture 3" descr="04_farm_diary_mock_0_3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6400800" cy="4754880"/>
          </a:xfrm>
          <a:prstGeom prst="rect">
            <a:avLst/>
          </a:prstGeom>
          <a:ln w="12700">
            <a:solidFill>
              <a:srgbClr val="C9D3C4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D96C2C"/>
                </a:solidFill>
                <a:latin typeface="Malgun Gothic"/>
                <a:ea typeface="Malgun Gothic"/>
                <a:cs typeface="Malgun Gothic"/>
              </a:rPr>
              <a:t>04_farm_diary_mock.png · mock 모드 캡처 · 실모델 결과 아님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0" y="1645920"/>
            <a:ext cx="4480560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 i="0">
                <a:solidFill>
                  <a:srgbClr val="1F3A2B"/>
                </a:solidFill>
                <a:latin typeface="Malgun Gothic"/>
                <a:ea typeface="Malgun Gothic"/>
                <a:cs typeface="Malgun Gothic"/>
              </a:rPr>
              <a:t>고정 Markdown 양식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1 날짜 · 2 재배사 환경(℃/%/ppm 표) · 3 생육 상태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4 병해충 · 5 작업 내용 · 6 익일 계획</a:t>
            </a:r>
          </a:p>
          <a:p>
            <a:pPr algn="l">
              <a:spcAft>
                <a:spcPts val="700"/>
              </a:spcAft>
            </a:pPr>
            <a:r>
              <a:rPr sz="1700" b="1" i="0">
                <a:solidFill>
                  <a:srgbClr val="1F3A2B"/>
                </a:solidFill>
                <a:latin typeface="Malgun Gothic"/>
                <a:ea typeface="Malgun Gothic"/>
                <a:cs typeface="Malgun Gothic"/>
              </a:rPr>
              <a:t>입력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날짜, 온도·습도·CO2 직접 입력, 작업 메모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당일 이미지 분석 결과 선택(캐시에서 조회)</a:t>
            </a:r>
          </a:p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5F635C"/>
                </a:solidFill>
                <a:latin typeface="Malgun Gothic"/>
                <a:ea typeface="Malgun Gothic"/>
                <a:cs typeface="Malgun Gothic"/>
              </a:rPr>
              <a:t>LLM은 '익일 계획'만 생성 · 입력에 없는 수치 생성 금지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F3A2B"/>
                </a:solidFill>
                <a:latin typeface="Malgun Gothic"/>
                <a:ea typeface="Malgun Gothic"/>
                <a:cs typeface="Malgun Gothic"/>
              </a:rPr>
              <a:t>시연 시나리오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F635C"/>
                </a:solidFill>
                <a:latin typeface="Malgun Gothic"/>
                <a:ea typeface="Malgun Gothic"/>
                <a:cs typeface="Malgun Gothic"/>
              </a:rPr>
              <a:t>LLM_PROVIDER=mock으로 키 없이 전체 흐름 재현 가능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645920"/>
            <a:ext cx="566928" cy="566928"/>
          </a:xfrm>
          <a:prstGeom prst="ellipse">
            <a:avLst/>
          </a:prstGeom>
          <a:solidFill>
            <a:srgbClr val="1F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00784"/>
            <a:ext cx="566928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719072"/>
            <a:ext cx="21945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3A2B"/>
                </a:solidFill>
                <a:latin typeface="Malgun Gothic"/>
                <a:ea typeface="Malgun Gothic"/>
                <a:cs typeface="Malgun Gothic"/>
              </a:rPr>
              <a:t>대시보드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1737360"/>
            <a:ext cx="80467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SAMPLE 배지 확인 → 기간·지역 필터, 일/월 전환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423160"/>
            <a:ext cx="566928" cy="566928"/>
          </a:xfrm>
          <a:prstGeom prst="ellipse">
            <a:avLst/>
          </a:prstGeom>
          <a:solidFill>
            <a:srgbClr val="1F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478024"/>
            <a:ext cx="566928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96312"/>
            <a:ext cx="21945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3A2B"/>
                </a:solidFill>
                <a:latin typeface="Malgun Gothic"/>
                <a:ea typeface="Malgun Gothic"/>
                <a:cs typeface="Malgun Gothic"/>
              </a:rPr>
              <a:t>이미지 분석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514600"/>
            <a:ext cx="80467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이미지 업로드 → 분석 실행 → JSON·캐시 적중 확인(재실행)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200400"/>
            <a:ext cx="566928" cy="566928"/>
          </a:xfrm>
          <a:prstGeom prst="ellipse">
            <a:avLst/>
          </a:prstGeom>
          <a:solidFill>
            <a:srgbClr val="1F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255264"/>
            <a:ext cx="566928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273552"/>
            <a:ext cx="21945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3A2B"/>
                </a:solidFill>
                <a:latin typeface="Malgun Gothic"/>
                <a:ea typeface="Malgun Gothic"/>
                <a:cs typeface="Malgun Gothic"/>
              </a:rPr>
              <a:t>문서 질의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291840"/>
            <a:ext cx="80467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"자실체 생육기 적정 온도와 환기 관리는?" → rag_search, 출처 표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3977639"/>
            <a:ext cx="566928" cy="566928"/>
          </a:xfrm>
          <a:prstGeom prst="ellipse">
            <a:avLst/>
          </a:prstGeom>
          <a:solidFill>
            <a:srgbClr val="1F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032503"/>
            <a:ext cx="566928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050791"/>
            <a:ext cx="21945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3A2B"/>
                </a:solidFill>
                <a:latin typeface="Malgun Gothic"/>
                <a:ea typeface="Malgun Gothic"/>
                <a:cs typeface="Malgun Gothic"/>
              </a:rPr>
              <a:t>이미지 질의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4069079"/>
            <a:ext cx="80467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AI 상담에 이미지 첨부 + "상태 어때?" → analyze_mushroom_image</a:t>
            </a:r>
          </a:p>
        </p:txBody>
      </p:sp>
      <p:sp>
        <p:nvSpPr>
          <p:cNvPr id="20" name="Oval 19"/>
          <p:cNvSpPr/>
          <p:nvPr/>
        </p:nvSpPr>
        <p:spPr>
          <a:xfrm>
            <a:off x="548640" y="4754880"/>
            <a:ext cx="566928" cy="566928"/>
          </a:xfrm>
          <a:prstGeom prst="ellipse">
            <a:avLst/>
          </a:prstGeom>
          <a:solidFill>
            <a:srgbClr val="1F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809744"/>
            <a:ext cx="566928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4828032"/>
            <a:ext cx="21945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3A2B"/>
                </a:solidFill>
                <a:latin typeface="Malgun Gothic"/>
                <a:ea typeface="Malgun Gothic"/>
                <a:cs typeface="Malgun Gothic"/>
              </a:rPr>
              <a:t>가격 질의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4846320"/>
            <a:ext cx="80467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"최근 가격 알려줘" → get_mushroom_price(1m)</a:t>
            </a:r>
          </a:p>
        </p:txBody>
      </p:sp>
      <p:sp>
        <p:nvSpPr>
          <p:cNvPr id="24" name="Oval 23"/>
          <p:cNvSpPr/>
          <p:nvPr/>
        </p:nvSpPr>
        <p:spPr>
          <a:xfrm>
            <a:off x="548640" y="5532120"/>
            <a:ext cx="566928" cy="566928"/>
          </a:xfrm>
          <a:prstGeom prst="ellipse">
            <a:avLst/>
          </a:prstGeom>
          <a:solidFill>
            <a:srgbClr val="1F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586983"/>
            <a:ext cx="566928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605272"/>
            <a:ext cx="21945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3A2B"/>
                </a:solidFill>
                <a:latin typeface="Malgun Gothic"/>
                <a:ea typeface="Malgun Gothic"/>
                <a:cs typeface="Malgun Gothic"/>
              </a:rPr>
              <a:t>영농일지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5623559"/>
            <a:ext cx="80467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"오늘 일지 써줘. 온도 16도 습도 90%" 또는 탭 4에서 작성 → md 다운로드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F3A2B"/>
                </a:solidFill>
                <a:latin typeface="Malgun Gothic"/>
                <a:ea typeface="Malgun Gothic"/>
                <a:cs typeface="Malgun Gothic"/>
              </a:rPr>
              <a:t>검증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F635C"/>
                </a:solidFill>
                <a:latin typeface="Malgun Gothic"/>
                <a:ea typeface="Malgun Gothic"/>
                <a:cs typeface="Malgun Gothic"/>
              </a:rPr>
              <a:t>모든 검증은 LLM_PROVIDER=mock으로 수행 (키 없이)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4754880" cy="2011680"/>
          </a:xfrm>
          <a:prstGeom prst="roundRect">
            <a:avLst>
              <a:gd name="adj" fmla="val 8000"/>
            </a:avLst>
          </a:prstGeom>
          <a:solidFill>
            <a:srgbClr val="1F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44805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EEF3EA"/>
                </a:solidFill>
                <a:latin typeface="Malgun Gothic"/>
                <a:ea typeface="Malgun Gothic"/>
                <a:cs typeface="Malgun Gothic"/>
              </a:rPr>
              <a:t>pytest (빌드 시 실제 실행 결과)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448056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36 passed in 5.35s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1645920"/>
            <a:ext cx="5943600" cy="2743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• test_llm: mock이 표준 tool_calls AIMessage 생성, 429 백오프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• test_data: 샘플 대체, KAMIS 컬럼 매핑, KOSIS wide→long(cp949)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• test_rag: 샘플 질의 3건 출처 반환, 무관 질의 '문서 근거 없음'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• test_vision: 스키마 준수, 캐시 재호출 없음, 1회 재요청, analysis_logs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• test_agent: 질의 유형별 Tool 선택 4건, 반복 6회 제한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114800"/>
            <a:ext cx="11064240" cy="2103120"/>
          </a:xfrm>
          <a:prstGeom prst="roundRect">
            <a:avLst>
              <a:gd name="adj" fmla="val 8000"/>
            </a:avLst>
          </a:prstGeom>
          <a:solidFill>
            <a:srgbClr val="FD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206240"/>
            <a:ext cx="10607040" cy="1920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D96C2C"/>
                </a:solidFill>
                <a:latin typeface="Malgun Gothic"/>
                <a:ea typeface="Malgun Gothic"/>
                <a:cs typeface="Malgun Gothic"/>
              </a:rPr>
              <a:t>실모델 검증 필요 (이 개발 환경에서 미수행)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Gemini·Ollama 실제 호출(Tool 선택 품질, VLM 판독 정확도) — API 키·모델 서버 없음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sentence-transformers 실 Embedding — 개발 환경 네트워크 정책으로 모델 다운로드 불가, 해싱 폴백으로 검증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KAMIS Open API 파라미터·응답 형식 — [미확인], 접속 불가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F3A2B"/>
                </a:solidFill>
                <a:latin typeface="Malgun Gothic"/>
                <a:ea typeface="Malgun Gothic"/>
                <a:cs typeface="Malgun Gothic"/>
              </a:rPr>
              <a:t>한계와 개선점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1828800" cy="804672"/>
          </a:xfrm>
          <a:prstGeom prst="roundRect">
            <a:avLst>
              <a:gd name="adj" fmla="val 8000"/>
            </a:avLst>
          </a:prstGeom>
          <a:solidFill>
            <a:srgbClr val="1F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828800" cy="8046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데이터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14600" y="1371600"/>
            <a:ext cx="4434840" cy="804672"/>
          </a:xfrm>
          <a:prstGeom prst="roundRect">
            <a:avLst>
              <a:gd name="adj" fmla="val 8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651760" y="1371600"/>
            <a:ext cx="4206240" cy="8046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가격·생산 통계와 이미지가 샘플/더미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86600" y="1371600"/>
            <a:ext cx="452628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5E8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0" y="1371600"/>
            <a:ext cx="4297680" cy="8046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3A2B"/>
                </a:solidFill>
                <a:latin typeface="Malgun Gothic"/>
                <a:ea typeface="Malgun Gothic"/>
                <a:cs typeface="Malgun Gothic"/>
              </a:rPr>
              <a:t>→ KAMIS·KOSIS 파일과 실제 재배 사진 투입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59152"/>
            <a:ext cx="1828800" cy="804672"/>
          </a:xfrm>
          <a:prstGeom prst="roundRect">
            <a:avLst>
              <a:gd name="adj" fmla="val 8000"/>
            </a:avLst>
          </a:prstGeom>
          <a:solidFill>
            <a:srgbClr val="1F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359152"/>
            <a:ext cx="1828800" cy="8046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Vision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14600" y="2359152"/>
            <a:ext cx="4434840" cy="804672"/>
          </a:xfrm>
          <a:prstGeom prst="roundRect">
            <a:avLst>
              <a:gd name="adj" fmla="val 8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51760" y="2359152"/>
            <a:ext cx="4206240" cy="8046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Zero-shot VLM, 정량 정확도 미측정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86600" y="2359152"/>
            <a:ext cx="452628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5E8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0" y="2359152"/>
            <a:ext cx="4297680" cy="8046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3A2B"/>
                </a:solidFill>
                <a:latin typeface="Malgun Gothic"/>
                <a:ea typeface="Malgun Gothic"/>
                <a:cs typeface="Malgun Gothic"/>
              </a:rPr>
              <a:t>→ 라벨링 이미지셋 구축 후 정확도 평가, 필요 시 ViT/YOLO 미세조정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346704"/>
            <a:ext cx="1828800" cy="804672"/>
          </a:xfrm>
          <a:prstGeom prst="roundRect">
            <a:avLst>
              <a:gd name="adj" fmla="val 8000"/>
            </a:avLst>
          </a:prstGeom>
          <a:solidFill>
            <a:srgbClr val="1F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346704"/>
            <a:ext cx="1828800" cy="8046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RAG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14600" y="3346704"/>
            <a:ext cx="4434840" cy="804672"/>
          </a:xfrm>
          <a:prstGeom prst="roundRect">
            <a:avLst>
              <a:gd name="adj" fmla="val 8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51760" y="3346704"/>
            <a:ext cx="4206240" cy="8046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해싱 폴백은 어휘 겹침 기반, 임계값 미튜닝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86600" y="3346704"/>
            <a:ext cx="452628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5E8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0" y="3346704"/>
            <a:ext cx="4297680" cy="8046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3A2B"/>
                </a:solidFill>
                <a:latin typeface="Malgun Gothic"/>
                <a:ea typeface="Malgun Gothic"/>
                <a:cs typeface="Malgun Gothic"/>
              </a:rPr>
              <a:t>→ 실 Embedding 기준 임계값 튜닝, 공식 매뉴얼 색인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334256"/>
            <a:ext cx="1828800" cy="804672"/>
          </a:xfrm>
          <a:prstGeom prst="roundRect">
            <a:avLst>
              <a:gd name="adj" fmla="val 8000"/>
            </a:avLst>
          </a:prstGeom>
          <a:solidFill>
            <a:srgbClr val="1F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334256"/>
            <a:ext cx="1828800" cy="8046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Agent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514600" y="4334256"/>
            <a:ext cx="4434840" cy="804672"/>
          </a:xfrm>
          <a:prstGeom prst="roundRect">
            <a:avLst>
              <a:gd name="adj" fmla="val 8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51760" y="4334256"/>
            <a:ext cx="4206240" cy="8046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mock은 키워드 규칙이라 복합 질의 미처리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86600" y="4334256"/>
            <a:ext cx="452628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5E8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23760" y="4334256"/>
            <a:ext cx="4297680" cy="8046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3A2B"/>
                </a:solidFill>
                <a:latin typeface="Malgun Gothic"/>
                <a:ea typeface="Malgun Gothic"/>
                <a:cs typeface="Malgun Gothic"/>
              </a:rPr>
              <a:t>→ 실모델로 다중 Tool 연쇄 호출 평가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321808"/>
            <a:ext cx="1828800" cy="804672"/>
          </a:xfrm>
          <a:prstGeom prst="roundRect">
            <a:avLst>
              <a:gd name="adj" fmla="val 8000"/>
            </a:avLst>
          </a:prstGeom>
          <a:solidFill>
            <a:srgbClr val="1F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321808"/>
            <a:ext cx="1828800" cy="8046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가격 API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514600" y="5321808"/>
            <a:ext cx="4434840" cy="804672"/>
          </a:xfrm>
          <a:prstGeom prst="roundRect">
            <a:avLst>
              <a:gd name="adj" fmla="val 8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51760" y="5321808"/>
            <a:ext cx="4206240" cy="8046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KAMIS 파라미터·품목코드 [미확인]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086600" y="5321808"/>
            <a:ext cx="452628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5E8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23760" y="5321808"/>
            <a:ext cx="4297680" cy="8046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3A2B"/>
                </a:solidFill>
                <a:latin typeface="Malgun Gothic"/>
                <a:ea typeface="Malgun Gothic"/>
                <a:cs typeface="Malgun Gothic"/>
              </a:rPr>
              <a:t>→ 공식 문서 확인 후 품목코드 .env 설정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